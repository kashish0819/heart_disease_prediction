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embeddedFontLst>
    <p:embeddedFont>
      <p:font typeface="Crimson Pro SemiBold"/>
      <p:regular r:id="rId201314"/>
    </p:embeddedFont>
    <p:embeddedFont>
      <p:font typeface="Crimson Pro Bold"/>
      <p:regular r:id="rId201315"/>
    </p:embeddedFont>
    <p:embeddedFont>
      <p:font typeface="Heebo"/>
      <p:regular r:id="rId201316"/>
    </p:embeddedFont>
    <p:embeddedFont>
      <p:font typeface="Heeb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69612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Heart Disease Prediction System Using Machine Learning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794695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Submitted By: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Kashish Gupta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3180978"/>
            <a:ext cx="788194" cy="266402"/>
          </a:xfrm>
          <a:prstGeom prst="roundRect">
            <a:avLst>
              <a:gd name="adj" fmla="val 6386"/>
            </a:avLst>
          </a:prstGeom>
          <a:solidFill>
            <a:srgbClr val="CCD7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10174" y="3257476"/>
            <a:ext cx="113407" cy="1134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80284" y="3223468"/>
            <a:ext cx="90517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PYTHON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784154" y="3180978"/>
            <a:ext cx="1048345" cy="266402"/>
          </a:xfrm>
          <a:prstGeom prst="roundRect">
            <a:avLst>
              <a:gd name="adj" fmla="val 6386"/>
            </a:avLst>
          </a:prstGeom>
          <a:solidFill>
            <a:srgbClr val="CCD7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69210" y="3257476"/>
            <a:ext cx="113407" cy="11340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39320" y="3223468"/>
            <a:ext cx="116532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SCIKIT-LEARN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5903342" y="3180978"/>
            <a:ext cx="941933" cy="266402"/>
          </a:xfrm>
          <a:prstGeom prst="roundRect">
            <a:avLst>
              <a:gd name="adj" fmla="val 6386"/>
            </a:avLst>
          </a:prstGeom>
          <a:solidFill>
            <a:srgbClr val="CCD7FF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8397" y="3257476"/>
            <a:ext cx="113407" cy="11340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58508" y="3223468"/>
            <a:ext cx="105891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STREAMLIT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86446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Problem Statement</a:t>
            </a:r>
            <a:endParaRPr lang="en-US" sz="2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1520056"/>
            <a:ext cx="4741813" cy="130857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4077" y="168086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 Global Health Crisis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714077" y="1987376"/>
            <a:ext cx="43439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Heart disease is one of the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leading causes of death worldwide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claiming millions of lives each year and placing an enormous burden on healthcare systems globally.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069" y="2970386"/>
            <a:ext cx="4741813" cy="130857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4077" y="3131195"/>
            <a:ext cx="21500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Need for Early Prediction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714077" y="3437706"/>
            <a:ext cx="43439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Early prediction can help healthcare professionals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identify high-risk patients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provide timely treatment — potentially saving lives through proactive intervention before symptoms escalate.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50416"/>
            <a:ext cx="322607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Objectives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50912" y="869528"/>
            <a:ext cx="8099301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project aims to leverage machine learning to build a robust, interpretable heart disease prediction system with a user-friendly interface.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0912" y="1124620"/>
            <a:ext cx="7642101" cy="664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3610" y="1353071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294656" y="1249635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Analyze Dataset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94656" y="1474515"/>
            <a:ext cx="697334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Explore and understand the heart disease dataset thoroughly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912" y="1875606"/>
            <a:ext cx="7642101" cy="664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03610" y="2104058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294656" y="2000622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Build Models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294656" y="2225501"/>
            <a:ext cx="697334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Develop predictive machine learning models for classification</a:t>
            </a:r>
            <a:endParaRPr lang="en-US" sz="8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0912" y="2626593"/>
            <a:ext cx="7642101" cy="664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03610" y="2855044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294656" y="2751609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Compare Performance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1294656" y="2976488"/>
            <a:ext cx="697334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Evaluate and compare model accuracy and reliability</a:t>
            </a:r>
            <a:endParaRPr lang="en-US" sz="8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0912" y="3377580"/>
            <a:ext cx="7642101" cy="66451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3610" y="3606031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294656" y="3502596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Identify Risk Factors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1294656" y="3727475"/>
            <a:ext cx="697334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Determine the most important clinical risk factors</a:t>
            </a:r>
            <a:endParaRPr lang="en-US" sz="8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0912" y="4128567"/>
            <a:ext cx="7642101" cy="66451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3610" y="4357018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294656" y="4253582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Patient Interface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1294656" y="4478462"/>
            <a:ext cx="697334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Develop an interactive patient risk prediction interface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278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Dataset Description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10134"/>
            <a:ext cx="25209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Features (Clinical Variables)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673349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Additional clinical indicators included in the dataset further enrich the model's ability to detect patterns.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47605" y="1168375"/>
            <a:ext cx="4107135" cy="2151087"/>
          </a:xfrm>
          <a:prstGeom prst="roundRect">
            <a:avLst>
              <a:gd name="adj" fmla="val 989"/>
            </a:avLst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4789363" y="131013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Target Variable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89363" y="1673349"/>
            <a:ext cx="38236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binary classification target indicates the presence or absence of heart disease: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89363" y="2286446"/>
            <a:ext cx="3823618" cy="873547"/>
          </a:xfrm>
          <a:prstGeom prst="roundRect">
            <a:avLst>
              <a:gd name="adj" fmla="val 2434"/>
            </a:avLst>
          </a:prstGeom>
          <a:solidFill>
            <a:srgbClr val="F2EEEE"/>
          </a:solidFill>
          <a:ln/>
        </p:spPr>
      </p:sp>
      <p:sp>
        <p:nvSpPr>
          <p:cNvPr id="9" name="Shape 7"/>
          <p:cNvSpPr/>
          <p:nvPr/>
        </p:nvSpPr>
        <p:spPr>
          <a:xfrm>
            <a:off x="4789363" y="2286446"/>
            <a:ext cx="1911772" cy="873547"/>
          </a:xfrm>
          <a:prstGeom prst="roundRect">
            <a:avLst>
              <a:gd name="adj" fmla="val 2434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4931122" y="2428205"/>
            <a:ext cx="1628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0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31122" y="2791420"/>
            <a:ext cx="1628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Heart Disease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01135" y="2286446"/>
            <a:ext cx="1911846" cy="873547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01135" y="2286446"/>
            <a:ext cx="19050" cy="873547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4" name="Text 12"/>
          <p:cNvSpPr/>
          <p:nvPr/>
        </p:nvSpPr>
        <p:spPr>
          <a:xfrm>
            <a:off x="6842894" y="2428205"/>
            <a:ext cx="1628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42894" y="2791420"/>
            <a:ext cx="1628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Heart Disease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478932"/>
            <a:ext cx="1931566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637877" y="3620691"/>
            <a:ext cx="16480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Age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569443" y="3478932"/>
            <a:ext cx="1931640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2711202" y="3620691"/>
            <a:ext cx="16481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Sex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642842" y="3478932"/>
            <a:ext cx="1931640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4784601" y="3620691"/>
            <a:ext cx="16481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Chest Pain Type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716241" y="3478932"/>
            <a:ext cx="1931640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3620691"/>
            <a:ext cx="16481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Blood Pressure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96119" y="4125664"/>
            <a:ext cx="4004965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25" name="Text 23"/>
          <p:cNvSpPr/>
          <p:nvPr/>
        </p:nvSpPr>
        <p:spPr>
          <a:xfrm>
            <a:off x="637877" y="426742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Cholesterol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642842" y="4125664"/>
            <a:ext cx="4005039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4784601" y="426742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Heart Rate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386953"/>
            <a:ext cx="3835226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Preprocessing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72901" y="1066800"/>
            <a:ext cx="86553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rigorous preprocessing pipeline ensures data quality and model readiness before training begins.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168" y="1422797"/>
            <a:ext cx="7935590" cy="29777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16012" y="3677673"/>
            <a:ext cx="1196906" cy="230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Feature Prep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507583" y="3677673"/>
            <a:ext cx="1196906" cy="230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Clean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007351" y="3562389"/>
            <a:ext cx="1196906" cy="461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Duplicate Check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2507119" y="3562389"/>
            <a:ext cx="1196906" cy="461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Missing Analysis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74096" y="3677673"/>
            <a:ext cx="1196906" cy="230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Inspect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72901" y="4545434"/>
            <a:ext cx="86553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Each step in this pipeline is critical for ensuring the integrity of the dataset and the reliability of the downstream predictive models.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19" y="96292"/>
            <a:ext cx="3300561" cy="4950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78610" y="357336"/>
            <a:ext cx="3900711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Exploratory Data Analysis</a:t>
            </a:r>
            <a:endParaRPr lang="en-US" sz="2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78610" y="933376"/>
            <a:ext cx="321171" cy="32117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78610" y="1400026"/>
            <a:ext cx="212295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Patient Demographics Analyzed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3878610" y="1670521"/>
            <a:ext cx="481578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Age, sex, and population distribution were examined to understand the composition of the dataset and identify any demographic biases.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8610" y="2295227"/>
            <a:ext cx="321171" cy="32117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878610" y="2761878"/>
            <a:ext cx="1909316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Disease Distribution Studied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3878610" y="3032373"/>
            <a:ext cx="481578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prevalence of heart disease across different patient groups was analyzed to assess class balance and guide modeling decisions.</a:t>
            </a:r>
            <a:endParaRPr lang="en-US" sz="1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78610" y="3657079"/>
            <a:ext cx="321171" cy="32117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878610" y="4123730"/>
            <a:ext cx="1851496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Clinical Indicators Explored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3878610" y="4394225"/>
            <a:ext cx="481578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clinical measurements such as cholesterol, blood pressure, and heart rate were visualized to uncover patterns associated with heart disease.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9452" y="323924"/>
            <a:ext cx="2893814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Correlation Heatmap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209452" y="2077641"/>
            <a:ext cx="1787798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Why Correlation Analysis?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209452" y="2296864"/>
            <a:ext cx="2547342" cy="526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Correlation analysis was performed to </a:t>
            </a:r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identify relationships among clinical variables</a:t>
            </a:r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helping to detect multicollinearity and highlight which features are most strongly associated with heart disease presence.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209452" y="2898502"/>
            <a:ext cx="2547342" cy="563910"/>
          </a:xfrm>
          <a:prstGeom prst="roundRect">
            <a:avLst>
              <a:gd name="adj" fmla="val 2593"/>
            </a:avLst>
          </a:prstGeom>
          <a:solidFill>
            <a:srgbClr val="B6D6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6860" y="3025453"/>
            <a:ext cx="121816" cy="974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6084" y="2983111"/>
            <a:ext cx="2133302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Understanding feature relationships is essential for building interpretable and robust machine learning models.</a:t>
            </a:r>
            <a:endParaRPr lang="en-US" sz="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9235" y="804267"/>
            <a:ext cx="3939927" cy="39399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173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Model Development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6823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Two complementary machine learning algorithms were selected to provide both interpretability and predictive power.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13992"/>
            <a:ext cx="2628230" cy="262823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5938" y="1991841"/>
            <a:ext cx="2536924" cy="227253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92947" y="215265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1. Logistic Regression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3692947" y="2515865"/>
            <a:ext cx="2139107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baseline model offering high interpretability. It estimates the probability of heart disease based on linear combinations of clinical features, making it ideal for understanding feature contributions.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15571" y="1991841"/>
            <a:ext cx="2536999" cy="227253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52580" y="2152650"/>
            <a:ext cx="19922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2. Random Forest Classifier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6352580" y="2515865"/>
            <a:ext cx="2139181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 ensemble method that builds multiple decision trees to improve accuracy and reduce overfitting. It handles non-linear relationships and is robust to outliers in clinical data.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38721" y="269081"/>
            <a:ext cx="2727647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Confusion Matrix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1438721" y="669131"/>
            <a:ext cx="6723757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confusion matrix evaluates how well the model distinguishes between patients with and without heart disease.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8721" y="919088"/>
            <a:ext cx="3346921" cy="33469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11862" y="2316733"/>
            <a:ext cx="1721793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Classification Performance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11862" y="2516758"/>
            <a:ext cx="2698105" cy="357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model </a:t>
            </a:r>
            <a:pPr algn="l" indent="0" marL="0">
              <a:lnSpc>
                <a:spcPct val="109000"/>
              </a:lnSpc>
              <a:buNone/>
            </a:pPr>
            <a:r>
              <a:rPr lang="en-US" sz="7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successfully classified</a:t>
            </a:r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heart disease and non-heart disease patients, demonstrating strong discriminative ability across both classes.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438721" y="4396829"/>
            <a:ext cx="3104183" cy="477515"/>
          </a:xfrm>
          <a:prstGeom prst="roundRect">
            <a:avLst>
              <a:gd name="adj" fmla="val 2853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1529507" y="4487614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True Positives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529507" y="4664422"/>
            <a:ext cx="2922612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Heart disease correctly detected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4601021" y="4396829"/>
            <a:ext cx="3104257" cy="477515"/>
          </a:xfrm>
          <a:prstGeom prst="roundRect">
            <a:avLst>
              <a:gd name="adj" fmla="val 2853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4691807" y="4487614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True Negatives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691807" y="4664422"/>
            <a:ext cx="2922687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Healthy patients correctly cleared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97594"/>
            <a:ext cx="361369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Feature Importance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41871" y="1017017"/>
            <a:ext cx="8702129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Random Forest model identified the following as the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top clinical risk factors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heart disease prediction: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41871" y="1334467"/>
            <a:ext cx="2678460" cy="1199257"/>
          </a:xfrm>
          <a:prstGeom prst="roundRect">
            <a:avLst>
              <a:gd name="adj" fmla="val 1579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568077" y="1460674"/>
            <a:ext cx="378768" cy="378768"/>
          </a:xfrm>
          <a:prstGeom prst="roundRect">
            <a:avLst>
              <a:gd name="adj" fmla="val 15086883"/>
            </a:avLst>
          </a:prstGeom>
          <a:solidFill>
            <a:srgbClr val="2150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2257" y="1564779"/>
            <a:ext cx="170408" cy="1704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8077" y="1951881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thalach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8077" y="2216572"/>
            <a:ext cx="242604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Maximum heart rate achieved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32770" y="1334467"/>
            <a:ext cx="2678460" cy="1199257"/>
          </a:xfrm>
          <a:prstGeom prst="roundRect">
            <a:avLst>
              <a:gd name="adj" fmla="val 1579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3358976" y="1460674"/>
            <a:ext cx="378768" cy="378768"/>
          </a:xfrm>
          <a:prstGeom prst="roundRect">
            <a:avLst>
              <a:gd name="adj" fmla="val 15086883"/>
            </a:avLst>
          </a:prstGeom>
          <a:solidFill>
            <a:srgbClr val="2150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63156" y="1564779"/>
            <a:ext cx="170408" cy="1704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58976" y="1951881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cp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58976" y="2216572"/>
            <a:ext cx="242604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Chest pain type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23670" y="1334467"/>
            <a:ext cx="2678460" cy="1199257"/>
          </a:xfrm>
          <a:prstGeom prst="roundRect">
            <a:avLst>
              <a:gd name="adj" fmla="val 1579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6149876" y="1460674"/>
            <a:ext cx="378768" cy="378768"/>
          </a:xfrm>
          <a:prstGeom prst="roundRect">
            <a:avLst>
              <a:gd name="adj" fmla="val 15086883"/>
            </a:avLst>
          </a:prstGeom>
          <a:solidFill>
            <a:srgbClr val="2150F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54055" y="1564779"/>
            <a:ext cx="170408" cy="1704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49876" y="1951881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oldpeak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49876" y="2216572"/>
            <a:ext cx="242604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 depression induced by exercise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41871" y="2646164"/>
            <a:ext cx="4073872" cy="1199257"/>
          </a:xfrm>
          <a:prstGeom prst="roundRect">
            <a:avLst>
              <a:gd name="adj" fmla="val 1579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568077" y="2772370"/>
            <a:ext cx="378768" cy="378768"/>
          </a:xfrm>
          <a:prstGeom prst="roundRect">
            <a:avLst>
              <a:gd name="adj" fmla="val 15086883"/>
            </a:avLst>
          </a:prstGeom>
          <a:solidFill>
            <a:srgbClr val="2150F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2257" y="2876476"/>
            <a:ext cx="170408" cy="1704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8077" y="3263578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thal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68077" y="3528268"/>
            <a:ext cx="382146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Thalassemia status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628183" y="2646164"/>
            <a:ext cx="4073947" cy="1199257"/>
          </a:xfrm>
          <a:prstGeom prst="roundRect">
            <a:avLst>
              <a:gd name="adj" fmla="val 1579"/>
            </a:avLst>
          </a:prstGeom>
          <a:solidFill>
            <a:srgbClr val="F2EEEE"/>
          </a:solidFill>
          <a:ln/>
        </p:spPr>
      </p:sp>
      <p:sp>
        <p:nvSpPr>
          <p:cNvPr id="25" name="Shape 19"/>
          <p:cNvSpPr/>
          <p:nvPr/>
        </p:nvSpPr>
        <p:spPr>
          <a:xfrm>
            <a:off x="4754389" y="2772370"/>
            <a:ext cx="378768" cy="378768"/>
          </a:xfrm>
          <a:prstGeom prst="roundRect">
            <a:avLst>
              <a:gd name="adj" fmla="val 15086883"/>
            </a:avLst>
          </a:prstGeom>
          <a:solidFill>
            <a:srgbClr val="2150F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58569" y="2876476"/>
            <a:ext cx="170408" cy="1704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54389" y="3263578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754389" y="3528268"/>
            <a:ext cx="3821534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Number of major vessels colored by fluoroscopy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441871" y="3971925"/>
            <a:ext cx="8260259" cy="647402"/>
          </a:xfrm>
          <a:prstGeom prst="roundRect">
            <a:avLst>
              <a:gd name="adj" fmla="val 2925"/>
            </a:avLst>
          </a:prstGeom>
          <a:solidFill>
            <a:srgbClr val="B6FCB8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8077" y="4147840"/>
            <a:ext cx="157758" cy="12620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52041" y="4104680"/>
            <a:ext cx="772388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These features provide clinically actionable insights, enabling physicians to focus on the most critical indicators during patient assessment.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243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Streamlit Application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9893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Features: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985218"/>
            <a:ext cx="2622724" cy="1072009"/>
          </a:xfrm>
          <a:prstGeom prst="roundRect">
            <a:avLst>
              <a:gd name="adj" fmla="val 1984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637877" y="212697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2150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856" y="2243882"/>
            <a:ext cx="191319" cy="1913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7877" y="269401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User-friendly interface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260601" y="1985218"/>
            <a:ext cx="2622724" cy="1072009"/>
          </a:xfrm>
          <a:prstGeom prst="roundRect">
            <a:avLst>
              <a:gd name="adj" fmla="val 1984"/>
            </a:avLst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3402360" y="212697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2150F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9339" y="2243882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2360" y="269401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Real-time prediction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025083" y="1985218"/>
            <a:ext cx="2622724" cy="1072009"/>
          </a:xfrm>
          <a:prstGeom prst="roundRect">
            <a:avLst>
              <a:gd name="adj" fmla="val 1984"/>
            </a:avLst>
          </a:prstGeom>
          <a:solidFill>
            <a:srgbClr val="F2EEEE"/>
          </a:solidFill>
          <a:ln/>
        </p:spPr>
      </p:sp>
      <p:sp>
        <p:nvSpPr>
          <p:cNvPr id="13" name="Shape 9"/>
          <p:cNvSpPr/>
          <p:nvPr/>
        </p:nvSpPr>
        <p:spPr>
          <a:xfrm>
            <a:off x="6166842" y="212697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2150F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3821" y="2243882"/>
            <a:ext cx="191319" cy="19131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66842" y="2694012"/>
            <a:ext cx="18030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Clinical parameter input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496119" y="3198986"/>
            <a:ext cx="8151688" cy="1072009"/>
          </a:xfrm>
          <a:prstGeom prst="roundRect">
            <a:avLst>
              <a:gd name="adj" fmla="val 1984"/>
            </a:avLst>
          </a:prstGeom>
          <a:solidFill>
            <a:srgbClr val="F2EEEE"/>
          </a:solidFill>
          <a:ln/>
        </p:spPr>
      </p:sp>
      <p:sp>
        <p:nvSpPr>
          <p:cNvPr id="17" name="Shape 12"/>
          <p:cNvSpPr/>
          <p:nvPr/>
        </p:nvSpPr>
        <p:spPr>
          <a:xfrm>
            <a:off x="637877" y="3340745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2150F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4856" y="3457649"/>
            <a:ext cx="191319" cy="19131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7877" y="390778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Instant risk assessment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851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Conclusion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245022"/>
            <a:ext cx="2622724" cy="20952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6927" y="183110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Achievements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56927" y="2137618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Heart Disease Prediction System developed successfully.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1245022"/>
            <a:ext cx="2622724" cy="209527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1410" y="183110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Results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21410" y="2137618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Random Forest achieved strong predictive performance.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421410" y="2676302"/>
            <a:ext cx="2301106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Accuracy = 83.61%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ROC-AUC = 87.88%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1245022"/>
            <a:ext cx="2622724" cy="209527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85892" y="183110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185892" y="2137618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Streamlit application deployed locally for patient risk prediction.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96119" y="3499768"/>
            <a:ext cx="8151763" cy="965746"/>
          </a:xfrm>
          <a:prstGeom prst="roundRect">
            <a:avLst>
              <a:gd name="adj" fmla="val 2202"/>
            </a:avLst>
          </a:prstGeom>
          <a:solidFill>
            <a:srgbClr val="B6FCB8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877" y="3700537"/>
            <a:ext cx="177180" cy="14175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56816" y="3676948"/>
            <a:ext cx="5348139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Thank You</a:t>
            </a:r>
            <a:endParaRPr lang="en-US" sz="3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2026-06-09T08:45:22Z</dcterms:created>
  <dcterms:modified xsi:type="dcterms:W3CDTF">2026-06-09T08:45:22Z</dcterms:modified>
</cp:coreProperties>
</file>